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Content framework based on user-provided project context in this conversation and stored project context.
- All projects, partners, and evidence areas are illustrative mock examples for template use and should be replaced or verified before presentation.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Project framing based on user-provided One Connect / Acquire mode context in this conversation and stored project context.
- Before/after visuals are schematic illustrations created for template purposes and not sourced screenshots.
- All numeric outcomes are illustrative placeholders only and must be replaced with verified project metrics before presentation.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455664"/>
            <a:ext cx="10835640" cy="0"/>
          </a:xfrm>
          <a:prstGeom prst="line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10241280" y="647395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1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project showcase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73952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0A1A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73952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0A1A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84632"/>
            <a:ext cx="1444752" cy="274320"/>
          </a:xfrm>
          <a:prstGeom prst="roundRect">
            <a:avLst>
              <a:gd name="adj" fmla="val 23333"/>
            </a:avLst>
          </a:prstGeom>
          <a:solidFill>
            <a:srgbClr val="E6F0ED"/>
          </a:solidFill>
          <a:ln w="12700">
            <a:solidFill>
              <a:srgbClr val="E6F0E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528523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8F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PORTFOLIO VIEW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9098280" y="548640"/>
            <a:ext cx="2468880" cy="310896"/>
          </a:xfrm>
          <a:prstGeom prst="roundRect">
            <a:avLst>
              <a:gd name="adj" fmla="val 23529"/>
            </a:avLst>
          </a:prstGeom>
          <a:solidFill>
            <a:srgbClr val="EEF0FF"/>
          </a:solidFill>
          <a:ln w="12700">
            <a:solidFill>
              <a:srgbClr val="EEF0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71432" y="594360"/>
            <a:ext cx="2322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46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AI project examples — replace with your real proof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841248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418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design projects — tell the story through product change</a:t>
            </a:r>
            <a:endParaRPr lang="en-US" sz="2150" dirty="0"/>
          </a:p>
        </p:txBody>
      </p:sp>
      <p:sp>
        <p:nvSpPr>
          <p:cNvPr id="7" name="Text 5"/>
          <p:cNvSpPr/>
          <p:nvPr/>
        </p:nvSpPr>
        <p:spPr>
          <a:xfrm>
            <a:off x="685800" y="140817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572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stronger showcase template for AI work: lead with the workflow problem, name the cross-functional partners, show the before → after shift, and end on 2–3 outcome measures.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58368" y="1810512"/>
            <a:ext cx="1083564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1947672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572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423160" y="1947672"/>
            <a:ext cx="3657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572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STATEMENT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309360" y="1947672"/>
            <a:ext cx="1783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572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PARTNERS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275320" y="1947672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572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→ AFTER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0149840" y="1947672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572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TO SHOW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58368" y="2414016"/>
            <a:ext cx="1083564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8680" y="2542032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418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Connect —</a:t>
            </a:r>
            <a:endParaRPr lang="en-US" sz="1380" dirty="0"/>
          </a:p>
          <a:p>
            <a:pPr indent="0" marL="0">
              <a:buNone/>
            </a:pPr>
            <a:r>
              <a:rPr lang="en-US" sz="1380" b="1" dirty="0">
                <a:solidFill>
                  <a:srgbClr val="1418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Acquire mode</a:t>
            </a:r>
            <a:endParaRPr lang="en-US" sz="1380" dirty="0"/>
          </a:p>
        </p:txBody>
      </p:sp>
      <p:sp>
        <p:nvSpPr>
          <p:cNvPr id="16" name="Text 14"/>
          <p:cNvSpPr/>
          <p:nvPr/>
        </p:nvSpPr>
        <p:spPr>
          <a:xfrm>
            <a:off x="868680" y="3108960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572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AI-native growth workflow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423160" y="2569464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8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Acquisition work lived across scattered apps for prospect lists, campaigns, events, and opportunity tracking. Bankers lacked one place to discover, prioritize, and act.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309360" y="2587752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418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director • Design director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418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• Data science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418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Banker SMEs • Compliance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8275320" y="2569464"/>
            <a:ext cx="1664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418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Distributed acquisition stack → one AI-guided mode for discover, score, engage, and convert.</a:t>
            </a:r>
            <a:endParaRPr lang="en-US" sz="1130" dirty="0"/>
          </a:p>
        </p:txBody>
      </p:sp>
      <p:sp>
        <p:nvSpPr>
          <p:cNvPr id="20" name="Text 18"/>
          <p:cNvSpPr/>
          <p:nvPr/>
        </p:nvSpPr>
        <p:spPr>
          <a:xfrm>
            <a:off x="10149840" y="2569464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0D8F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to shortlist</a:t>
            </a:r>
            <a:endParaRPr lang="en-US" sz="1040" dirty="0"/>
          </a:p>
          <a:p>
            <a:pPr indent="0" marL="0">
              <a:buNone/>
            </a:pPr>
            <a:r>
              <a:rPr lang="en-US" sz="1040" b="1" dirty="0">
                <a:solidFill>
                  <a:srgbClr val="0D8F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Outreach starts</a:t>
            </a:r>
            <a:endParaRPr lang="en-US" sz="1040" dirty="0"/>
          </a:p>
          <a:p>
            <a:pPr indent="0" marL="0">
              <a:buNone/>
            </a:pPr>
            <a:r>
              <a:rPr lang="en-US" sz="1040" b="1" dirty="0">
                <a:solidFill>
                  <a:srgbClr val="0D8F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Cross-app steps</a:t>
            </a:r>
            <a:endParaRPr lang="en-US" sz="1040" dirty="0"/>
          </a:p>
        </p:txBody>
      </p:sp>
      <p:sp>
        <p:nvSpPr>
          <p:cNvPr id="21" name="Shape 19"/>
          <p:cNvSpPr/>
          <p:nvPr/>
        </p:nvSpPr>
        <p:spPr>
          <a:xfrm>
            <a:off x="658368" y="3630168"/>
            <a:ext cx="1083564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68680" y="3758184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418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Intent Bar +</a:t>
            </a:r>
            <a:endParaRPr lang="en-US" sz="1380" dirty="0"/>
          </a:p>
          <a:p>
            <a:pPr indent="0" marL="0">
              <a:buNone/>
            </a:pPr>
            <a:r>
              <a:rPr lang="en-US" sz="1380" b="1" dirty="0">
                <a:solidFill>
                  <a:srgbClr val="1418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Sidebar Copilot</a:t>
            </a:r>
            <a:endParaRPr lang="en-US" sz="1380" dirty="0"/>
          </a:p>
        </p:txBody>
      </p:sp>
      <p:sp>
        <p:nvSpPr>
          <p:cNvPr id="23" name="Text 21"/>
          <p:cNvSpPr/>
          <p:nvPr/>
        </p:nvSpPr>
        <p:spPr>
          <a:xfrm>
            <a:off x="868680" y="4325112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572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action layer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423160" y="3785616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8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Search, explanation, and action were split across pages, commands, and dense trays. Users waited for answers but still did not know what to do next.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309360" y="3803904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418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 • AI platform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418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• UX research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418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Advisor SMEs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8275320" y="3785616"/>
            <a:ext cx="1664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418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Command palette + scattered helpers → progressive Ask / Find / Do / Auto intelligence layer.</a:t>
            </a:r>
            <a:endParaRPr lang="en-US" sz="1130" dirty="0"/>
          </a:p>
        </p:txBody>
      </p:sp>
      <p:sp>
        <p:nvSpPr>
          <p:cNvPr id="27" name="Text 25"/>
          <p:cNvSpPr/>
          <p:nvPr/>
        </p:nvSpPr>
        <p:spPr>
          <a:xfrm>
            <a:off x="10149840" y="3785616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0D8F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First-action speed</a:t>
            </a:r>
            <a:endParaRPr lang="en-US" sz="1040" dirty="0"/>
          </a:p>
          <a:p>
            <a:pPr indent="0" marL="0">
              <a:buNone/>
            </a:pPr>
            <a:r>
              <a:rPr lang="en-US" sz="1040" b="1" dirty="0">
                <a:solidFill>
                  <a:srgbClr val="0D8F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Override rate</a:t>
            </a:r>
            <a:endParaRPr lang="en-US" sz="1040" dirty="0"/>
          </a:p>
          <a:p>
            <a:pPr indent="0" marL="0">
              <a:buNone/>
            </a:pPr>
            <a:r>
              <a:rPr lang="en-US" sz="1040" b="1" dirty="0">
                <a:solidFill>
                  <a:srgbClr val="0D8F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completion</a:t>
            </a:r>
            <a:endParaRPr lang="en-US" sz="1040" dirty="0"/>
          </a:p>
        </p:txBody>
      </p:sp>
      <p:sp>
        <p:nvSpPr>
          <p:cNvPr id="28" name="Shape 26"/>
          <p:cNvSpPr/>
          <p:nvPr/>
        </p:nvSpPr>
        <p:spPr>
          <a:xfrm>
            <a:off x="658368" y="4846320"/>
            <a:ext cx="1083564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68680" y="4974336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418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Advisor Memory</a:t>
            </a:r>
            <a:endParaRPr lang="en-US" sz="1380" dirty="0"/>
          </a:p>
          <a:p>
            <a:pPr indent="0" marL="0">
              <a:buNone/>
            </a:pPr>
            <a:r>
              <a:rPr lang="en-US" sz="1380" b="1" dirty="0">
                <a:solidFill>
                  <a:srgbClr val="1418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&amp; Recall</a:t>
            </a:r>
            <a:endParaRPr lang="en-US" sz="1380" dirty="0"/>
          </a:p>
        </p:txBody>
      </p:sp>
      <p:sp>
        <p:nvSpPr>
          <p:cNvPr id="30" name="Text 28"/>
          <p:cNvSpPr/>
          <p:nvPr/>
        </p:nvSpPr>
        <p:spPr>
          <a:xfrm>
            <a:off x="868680" y="5541264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572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Ambient continuity layer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423160" y="5001768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8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Meeting prep and follow-up depended on recollection across email, calendar, files, and desktop activity, making continuity fragile and slow.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309360" y="5020056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418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 • Desktop engineering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418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• Infra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418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Compliance • Risk</a:t>
            </a:r>
            <a:endParaRPr lang="en-US" sz="1080" dirty="0"/>
          </a:p>
        </p:txBody>
      </p:sp>
      <p:sp>
        <p:nvSpPr>
          <p:cNvPr id="33" name="Text 31"/>
          <p:cNvSpPr/>
          <p:nvPr/>
        </p:nvSpPr>
        <p:spPr>
          <a:xfrm>
            <a:off x="8275320" y="5001768"/>
            <a:ext cx="1664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418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recall across systems → privacy-bounded memory layer with contextual retrieval and proactive prep.</a:t>
            </a:r>
            <a:endParaRPr lang="en-US" sz="1130" dirty="0"/>
          </a:p>
        </p:txBody>
      </p:sp>
      <p:sp>
        <p:nvSpPr>
          <p:cNvPr id="34" name="Text 32"/>
          <p:cNvSpPr/>
          <p:nvPr/>
        </p:nvSpPr>
        <p:spPr>
          <a:xfrm>
            <a:off x="10149840" y="5001768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0D8F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 time</a:t>
            </a:r>
            <a:endParaRPr lang="en-US" sz="1040" dirty="0"/>
          </a:p>
          <a:p>
            <a:pPr indent="0" marL="0">
              <a:buNone/>
            </a:pPr>
            <a:r>
              <a:rPr lang="en-US" sz="1040" b="1" dirty="0">
                <a:solidFill>
                  <a:srgbClr val="0D8F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Repeated search effort</a:t>
            </a:r>
            <a:endParaRPr lang="en-US" sz="1040" dirty="0"/>
          </a:p>
          <a:p>
            <a:pPr indent="0" marL="0">
              <a:buNone/>
            </a:pPr>
            <a:r>
              <a:rPr lang="en-US" sz="1040" b="1" dirty="0">
                <a:solidFill>
                  <a:srgbClr val="0D8F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Handoff quality</a:t>
            </a:r>
            <a:endParaRPr lang="en-US" sz="1040" dirty="0"/>
          </a:p>
        </p:txBody>
      </p:sp>
      <p:sp>
        <p:nvSpPr>
          <p:cNvPr id="35" name="Text 33"/>
          <p:cNvSpPr/>
          <p:nvPr/>
        </p:nvSpPr>
        <p:spPr>
          <a:xfrm>
            <a:off x="713232" y="600760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8F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template works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13232" y="6236208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F8F0DE"/>
          </a:solidFill>
          <a:ln w="12700">
            <a:solidFill>
              <a:srgbClr val="F8F0DE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86384" y="6281928"/>
            <a:ext cx="996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6F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1-line problem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965960" y="6236208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EFF4F1"/>
          </a:solidFill>
          <a:ln w="12700">
            <a:solidFill>
              <a:srgbClr val="EFF4F1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039112" y="6281928"/>
            <a:ext cx="1179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8F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partners visible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401568" y="6236208"/>
            <a:ext cx="1572768" cy="310896"/>
          </a:xfrm>
          <a:prstGeom prst="roundRect">
            <a:avLst>
              <a:gd name="adj" fmla="val 23529"/>
            </a:avLst>
          </a:prstGeom>
          <a:solidFill>
            <a:srgbClr val="EEF0FF"/>
          </a:solidFill>
          <a:ln w="12700">
            <a:solidFill>
              <a:srgbClr val="EEF0FF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74720" y="6281928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46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→ after proof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102352" y="6236208"/>
            <a:ext cx="1444752" cy="310896"/>
          </a:xfrm>
          <a:prstGeom prst="roundRect">
            <a:avLst>
              <a:gd name="adj" fmla="val 23529"/>
            </a:avLst>
          </a:prstGeom>
          <a:solidFill>
            <a:srgbClr val="EFF4F1"/>
          </a:solidFill>
          <a:ln w="12700">
            <a:solidFill>
              <a:srgbClr val="EFF4F1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75504" y="6281928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572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2–3 evidence points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684264" y="6236208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E7F5EC"/>
          </a:solidFill>
          <a:ln w="12700">
            <a:solidFill>
              <a:srgbClr val="E7F5EC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57416" y="6281928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7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 outcome first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8458200" y="6236208"/>
            <a:ext cx="1810512" cy="310896"/>
          </a:xfrm>
          <a:prstGeom prst="roundRect">
            <a:avLst>
              <a:gd name="adj" fmla="val 23529"/>
            </a:avLst>
          </a:prstGeom>
          <a:solidFill>
            <a:srgbClr val="EFF4F1"/>
          </a:solidFill>
          <a:ln w="12700">
            <a:solidFill>
              <a:srgbClr val="EFF4F1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531352" y="6281928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572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exec-friendly in &lt;30 sec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73952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0A1A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84632"/>
            <a:ext cx="1481328" cy="274320"/>
          </a:xfrm>
          <a:prstGeom prst="roundRect">
            <a:avLst>
              <a:gd name="adj" fmla="val 23333"/>
            </a:avLst>
          </a:prstGeom>
          <a:solidFill>
            <a:srgbClr val="E6F0ED"/>
          </a:solidFill>
          <a:ln w="12700">
            <a:solidFill>
              <a:srgbClr val="E6F0E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528523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8F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STUDY VIEW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9189720" y="548640"/>
            <a:ext cx="2331720" cy="310896"/>
          </a:xfrm>
          <a:prstGeom prst="roundRect">
            <a:avLst>
              <a:gd name="adj" fmla="val 23529"/>
            </a:avLst>
          </a:prstGeom>
          <a:solidFill>
            <a:srgbClr val="EEF0FF"/>
          </a:solidFill>
          <a:ln w="12700">
            <a:solidFill>
              <a:srgbClr val="EEF0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262872" y="594360"/>
            <a:ext cx="2185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46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Mock flagship example — swap with measured results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859536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418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Connect — Acquire mode turns fragmented prospecting into one AI-guided growth workspace</a:t>
            </a:r>
            <a:endParaRPr lang="en-US" sz="2150" dirty="0"/>
          </a:p>
        </p:txBody>
      </p:sp>
      <p:sp>
        <p:nvSpPr>
          <p:cNvPr id="7" name="Text 5"/>
          <p:cNvSpPr/>
          <p:nvPr/>
        </p:nvSpPr>
        <p:spPr>
          <a:xfrm>
            <a:off x="685800" y="1536192"/>
            <a:ext cx="9784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572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 flagship slide like this to prove the delta fast: what was broken, what changed in the interaction model, who helped shape it, and what outcomes moved.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58368" y="1755648"/>
            <a:ext cx="3730752" cy="455371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86968" y="1956816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8F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FLAGSHIP EXAMPLE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86968" y="2103120"/>
            <a:ext cx="3063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418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AI-native acquisition mode replaced a fragmented prospecting stack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886968" y="3255264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8F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86968" y="3456432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8F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Bankers can prioritize prospects, understand why now, and launch outreach without jumping between tools.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86968" y="4187952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8F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statement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86968" y="4334256"/>
            <a:ext cx="3063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418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Prospecting lived across separate lists, campaigns, events, and opportunities screens. No shared system connected signals to action.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886968" y="5193792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8F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partners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86968" y="5303520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418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• Design • Engineering • Data science • Banker SMEs • Compliance</a:t>
            </a:r>
            <a:endParaRPr lang="en-US" sz="1180" dirty="0"/>
          </a:p>
        </p:txBody>
      </p:sp>
      <p:sp>
        <p:nvSpPr>
          <p:cNvPr id="17" name="Text 15"/>
          <p:cNvSpPr/>
          <p:nvPr/>
        </p:nvSpPr>
        <p:spPr>
          <a:xfrm>
            <a:off x="886968" y="563270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8F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moves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86968" y="5760720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dirty="0">
                <a:solidFill>
                  <a:srgbClr val="1418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Unified discover → score → engage → convert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1418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Surfaced AI rationale and next-best actions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1418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Kept book-level intelligence behind the scenes</a:t>
            </a:r>
            <a:endParaRPr lang="en-US" sz="1070" dirty="0"/>
          </a:p>
        </p:txBody>
      </p:sp>
      <p:sp>
        <p:nvSpPr>
          <p:cNvPr id="19" name="Text 17"/>
          <p:cNvSpPr/>
          <p:nvPr/>
        </p:nvSpPr>
        <p:spPr>
          <a:xfrm>
            <a:off x="4663440" y="1920240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8F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→ AFTER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63440" y="2130552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572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Leadership should understand the interaction-model delta in five seconds: fragmented stack before, one guided AI workspace after.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2432304"/>
            <a:ext cx="3182112" cy="2706624"/>
          </a:xfrm>
          <a:prstGeom prst="roundRect">
            <a:avLst>
              <a:gd name="adj" fmla="val 2365"/>
            </a:avLst>
          </a:prstGeom>
          <a:solidFill>
            <a:srgbClr val="FFFFFF"/>
          </a:solidFill>
          <a:ln w="15240">
            <a:solidFill>
              <a:srgbClr val="D8DD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2432304"/>
            <a:ext cx="3182112" cy="246888"/>
          </a:xfrm>
          <a:prstGeom prst="rect">
            <a:avLst/>
          </a:prstGeom>
          <a:solidFill>
            <a:srgbClr val="F1F3F2"/>
          </a:solidFill>
          <a:ln w="12700">
            <a:solidFill>
              <a:srgbClr val="F1F3F2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73168" y="2532888"/>
            <a:ext cx="45720" cy="45720"/>
          </a:xfrm>
          <a:prstGeom prst="ellipse">
            <a:avLst/>
          </a:prstGeom>
          <a:solidFill>
            <a:srgbClr val="E58A6B"/>
          </a:solidFill>
          <a:ln w="12700">
            <a:solidFill>
              <a:srgbClr val="E58A6B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92040" y="2532888"/>
            <a:ext cx="45720" cy="45720"/>
          </a:xfrm>
          <a:prstGeom prst="ellipse">
            <a:avLst/>
          </a:prstGeom>
          <a:solidFill>
            <a:srgbClr val="E2BA53"/>
          </a:solidFill>
          <a:ln w="12700">
            <a:solidFill>
              <a:srgbClr val="E2BA53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10912" y="2532888"/>
            <a:ext cx="45720" cy="45720"/>
          </a:xfrm>
          <a:prstGeom prst="ellipse">
            <a:avLst/>
          </a:prstGeom>
          <a:solidFill>
            <a:srgbClr val="77C082"/>
          </a:solidFill>
          <a:ln w="12700">
            <a:solidFill>
              <a:srgbClr val="77C082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65776" y="2523744"/>
            <a:ext cx="548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72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46320" y="2852928"/>
            <a:ext cx="1051560" cy="749808"/>
          </a:xfrm>
          <a:prstGeom prst="roundRect">
            <a:avLst>
              <a:gd name="adj" fmla="val 6098"/>
            </a:avLst>
          </a:prstGeom>
          <a:solidFill>
            <a:srgbClr val="FAFBFA"/>
          </a:solidFill>
          <a:ln w="12700">
            <a:solidFill>
              <a:srgbClr val="D8DD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56048" y="2980944"/>
            <a:ext cx="832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8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Prospect lists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956048" y="3200400"/>
            <a:ext cx="832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6572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context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6572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action model</a:t>
            </a:r>
            <a:endParaRPr lang="en-US" sz="830" dirty="0"/>
          </a:p>
        </p:txBody>
      </p:sp>
      <p:sp>
        <p:nvSpPr>
          <p:cNvPr id="30" name="Shape 28"/>
          <p:cNvSpPr/>
          <p:nvPr/>
        </p:nvSpPr>
        <p:spPr>
          <a:xfrm>
            <a:off x="6025896" y="2852928"/>
            <a:ext cx="1051560" cy="749808"/>
          </a:xfrm>
          <a:prstGeom prst="roundRect">
            <a:avLst>
              <a:gd name="adj" fmla="val 6098"/>
            </a:avLst>
          </a:prstGeom>
          <a:solidFill>
            <a:srgbClr val="FAFBFA"/>
          </a:solidFill>
          <a:ln w="12700">
            <a:solidFill>
              <a:srgbClr val="D8DD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35624" y="2980944"/>
            <a:ext cx="832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8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Campaigns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135624" y="3200400"/>
            <a:ext cx="832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6572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context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6572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action model</a:t>
            </a:r>
            <a:endParaRPr lang="en-US" sz="830" dirty="0"/>
          </a:p>
        </p:txBody>
      </p:sp>
      <p:sp>
        <p:nvSpPr>
          <p:cNvPr id="33" name="Shape 31"/>
          <p:cNvSpPr/>
          <p:nvPr/>
        </p:nvSpPr>
        <p:spPr>
          <a:xfrm>
            <a:off x="4846320" y="3749040"/>
            <a:ext cx="1051560" cy="749808"/>
          </a:xfrm>
          <a:prstGeom prst="roundRect">
            <a:avLst>
              <a:gd name="adj" fmla="val 6098"/>
            </a:avLst>
          </a:prstGeom>
          <a:solidFill>
            <a:srgbClr val="FAFBFA"/>
          </a:solidFill>
          <a:ln w="12700">
            <a:solidFill>
              <a:srgbClr val="D8DDD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56048" y="3877056"/>
            <a:ext cx="832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8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956048" y="4096512"/>
            <a:ext cx="832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6572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context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6572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action model</a:t>
            </a:r>
            <a:endParaRPr lang="en-US" sz="830" dirty="0"/>
          </a:p>
        </p:txBody>
      </p:sp>
      <p:sp>
        <p:nvSpPr>
          <p:cNvPr id="36" name="Shape 34"/>
          <p:cNvSpPr/>
          <p:nvPr/>
        </p:nvSpPr>
        <p:spPr>
          <a:xfrm>
            <a:off x="6025896" y="3749040"/>
            <a:ext cx="1051560" cy="749808"/>
          </a:xfrm>
          <a:prstGeom prst="roundRect">
            <a:avLst>
              <a:gd name="adj" fmla="val 6098"/>
            </a:avLst>
          </a:prstGeom>
          <a:solidFill>
            <a:srgbClr val="FAFBFA"/>
          </a:solidFill>
          <a:ln w="12700">
            <a:solidFill>
              <a:srgbClr val="D8DDD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35624" y="3877056"/>
            <a:ext cx="832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8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Opportunities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135624" y="4096512"/>
            <a:ext cx="832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6572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context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6572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action model</a:t>
            </a:r>
            <a:endParaRPr lang="en-US" sz="830" dirty="0"/>
          </a:p>
        </p:txBody>
      </p:sp>
      <p:sp>
        <p:nvSpPr>
          <p:cNvPr id="39" name="Shape 37"/>
          <p:cNvSpPr/>
          <p:nvPr/>
        </p:nvSpPr>
        <p:spPr>
          <a:xfrm>
            <a:off x="7086600" y="2834640"/>
            <a:ext cx="530352" cy="1993392"/>
          </a:xfrm>
          <a:prstGeom prst="roundRect">
            <a:avLst>
              <a:gd name="adj" fmla="val 8621"/>
            </a:avLst>
          </a:prstGeom>
          <a:solidFill>
            <a:srgbClr val="F7F8F7"/>
          </a:solidFill>
          <a:ln w="12700">
            <a:solidFill>
              <a:srgbClr val="D8DDD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223760" y="3383280"/>
            <a:ext cx="237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5727E"/>
                </a:solidFill>
              </a:rPr>
              <a:t>Swivel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65727E"/>
                </a:solidFill>
              </a:rPr>
              <a:t>chair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65727E"/>
                </a:solidFill>
              </a:rPr>
              <a:t>work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918704" y="3657600"/>
            <a:ext cx="320040" cy="384048"/>
          </a:xfrm>
          <a:prstGeom prst="chevron">
            <a:avLst/>
          </a:prstGeom>
          <a:solidFill>
            <a:srgbClr val="DFF2EC"/>
          </a:solidFill>
          <a:ln w="19050">
            <a:solidFill>
              <a:srgbClr val="0D8F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394192" y="2432304"/>
            <a:ext cx="3108960" cy="2706624"/>
          </a:xfrm>
          <a:prstGeom prst="roundRect">
            <a:avLst>
              <a:gd name="adj" fmla="val 2365"/>
            </a:avLst>
          </a:prstGeom>
          <a:solidFill>
            <a:srgbClr val="FFFFFF"/>
          </a:solidFill>
          <a:ln w="19050">
            <a:solidFill>
              <a:srgbClr val="0D8F7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394192" y="2432304"/>
            <a:ext cx="3108960" cy="246888"/>
          </a:xfrm>
          <a:prstGeom prst="rect">
            <a:avLst/>
          </a:prstGeom>
          <a:solidFill>
            <a:srgbClr val="F1F6F4"/>
          </a:solidFill>
          <a:ln w="12700">
            <a:solidFill>
              <a:srgbClr val="F1F6F4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503920" y="2532888"/>
            <a:ext cx="45720" cy="45720"/>
          </a:xfrm>
          <a:prstGeom prst="ellipse">
            <a:avLst/>
          </a:prstGeom>
          <a:solidFill>
            <a:srgbClr val="E58A6B"/>
          </a:solidFill>
          <a:ln w="12700">
            <a:solidFill>
              <a:srgbClr val="E58A6B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622792" y="2532888"/>
            <a:ext cx="45720" cy="45720"/>
          </a:xfrm>
          <a:prstGeom prst="ellipse">
            <a:avLst/>
          </a:prstGeom>
          <a:solidFill>
            <a:srgbClr val="E2BA53"/>
          </a:solidFill>
          <a:ln w="12700">
            <a:solidFill>
              <a:srgbClr val="E2BA53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41664" y="2532888"/>
            <a:ext cx="45720" cy="45720"/>
          </a:xfrm>
          <a:prstGeom prst="ellipse">
            <a:avLst/>
          </a:prstGeom>
          <a:solidFill>
            <a:srgbClr val="77C082"/>
          </a:solidFill>
          <a:ln w="12700">
            <a:solidFill>
              <a:srgbClr val="77C082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796528" y="2523744"/>
            <a:ext cx="548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72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8567928" y="2852928"/>
            <a:ext cx="2724912" cy="420624"/>
          </a:xfrm>
          <a:prstGeom prst="roundRect">
            <a:avLst>
              <a:gd name="adj" fmla="val 10870"/>
            </a:avLst>
          </a:prstGeom>
          <a:solidFill>
            <a:srgbClr val="DFF2EC"/>
          </a:solidFill>
          <a:ln w="12700">
            <a:solidFill>
              <a:srgbClr val="DFF2EC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714232" y="2971800"/>
            <a:ext cx="23957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8F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Acquire mode — primary AI action rail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8567928" y="3493008"/>
            <a:ext cx="1060704" cy="1143000"/>
          </a:xfrm>
          <a:prstGeom prst="roundRect">
            <a:avLst>
              <a:gd name="adj" fmla="val 4310"/>
            </a:avLst>
          </a:prstGeom>
          <a:solidFill>
            <a:srgbClr val="FBFCFB"/>
          </a:solidFill>
          <a:ln w="12700">
            <a:solidFill>
              <a:srgbClr val="C9DED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705088" y="37490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4181F"/>
                </a:solidFill>
              </a:rPr>
              <a:t>Signals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14181F"/>
                </a:solidFill>
              </a:rPr>
              <a:t>priority list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14181F"/>
                </a:solidFill>
              </a:rPr>
              <a:t>ranking cues</a:t>
            </a:r>
            <a:endParaRPr lang="en-US" sz="940" dirty="0"/>
          </a:p>
        </p:txBody>
      </p:sp>
      <p:sp>
        <p:nvSpPr>
          <p:cNvPr id="52" name="Shape 50"/>
          <p:cNvSpPr/>
          <p:nvPr/>
        </p:nvSpPr>
        <p:spPr>
          <a:xfrm>
            <a:off x="9765792" y="3493008"/>
            <a:ext cx="1353312" cy="749808"/>
          </a:xfrm>
          <a:prstGeom prst="roundRect">
            <a:avLst>
              <a:gd name="adj" fmla="val 6098"/>
            </a:avLst>
          </a:prstGeom>
          <a:solidFill>
            <a:srgbClr val="FBFCFB"/>
          </a:solidFill>
          <a:ln w="12700">
            <a:solidFill>
              <a:srgbClr val="C9DED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912096" y="37033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4181F"/>
                </a:solidFill>
              </a:rPr>
              <a:t>AI rationale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14181F"/>
                </a:solidFill>
              </a:rPr>
              <a:t>why now / why this prospect</a:t>
            </a:r>
            <a:endParaRPr lang="en-US" sz="940" dirty="0"/>
          </a:p>
        </p:txBody>
      </p:sp>
      <p:sp>
        <p:nvSpPr>
          <p:cNvPr id="54" name="Shape 52"/>
          <p:cNvSpPr/>
          <p:nvPr/>
        </p:nvSpPr>
        <p:spPr>
          <a:xfrm>
            <a:off x="9765792" y="4334256"/>
            <a:ext cx="1353312" cy="301752"/>
          </a:xfrm>
          <a:prstGeom prst="roundRect">
            <a:avLst>
              <a:gd name="adj" fmla="val 15152"/>
            </a:avLst>
          </a:prstGeom>
          <a:solidFill>
            <a:srgbClr val="F3FBF8"/>
          </a:solidFill>
          <a:ln w="12700">
            <a:solidFill>
              <a:srgbClr val="C9DED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939528" y="4443984"/>
            <a:ext cx="9875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8F77"/>
                </a:solidFill>
              </a:rPr>
              <a:t>Next best actions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9765792" y="4718304"/>
            <a:ext cx="1353312" cy="237744"/>
          </a:xfrm>
          <a:prstGeom prst="roundRect">
            <a:avLst>
              <a:gd name="adj" fmla="val 15385"/>
            </a:avLst>
          </a:prstGeom>
          <a:solidFill>
            <a:srgbClr val="FBFCFB"/>
          </a:solidFill>
          <a:ln w="12700">
            <a:solidFill>
              <a:srgbClr val="C9DED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893808" y="4800600"/>
            <a:ext cx="10972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5727E"/>
                </a:solidFill>
              </a:rPr>
              <a:t>Draft outreach / assign follow-up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4663440" y="5230368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572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changed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4663440" y="5449824"/>
            <a:ext cx="6720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8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redesign changed the product from many disconnected acquisition tools to one AI-guided mode. Signals were ranked, rationale became visible, and actions connected directly to outreach workflows.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4663440" y="5815584"/>
            <a:ext cx="1993392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0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4791456" y="590702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418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 → 3</a:t>
            </a:r>
            <a:endParaRPr lang="en-US" sz="1750" dirty="0"/>
          </a:p>
        </p:txBody>
      </p:sp>
      <p:sp>
        <p:nvSpPr>
          <p:cNvPr id="62" name="Text 60"/>
          <p:cNvSpPr/>
          <p:nvPr/>
        </p:nvSpPr>
        <p:spPr>
          <a:xfrm>
            <a:off x="4791456" y="6144768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6572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Cross-app steps to launch outreach</a:t>
            </a:r>
            <a:endParaRPr lang="en-US" sz="880" dirty="0"/>
          </a:p>
        </p:txBody>
      </p:sp>
      <p:sp>
        <p:nvSpPr>
          <p:cNvPr id="63" name="Shape 61"/>
          <p:cNvSpPr/>
          <p:nvPr/>
        </p:nvSpPr>
        <p:spPr>
          <a:xfrm>
            <a:off x="7059168" y="5815584"/>
            <a:ext cx="2029968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0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7187184" y="590702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418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18m → 7m</a:t>
            </a:r>
            <a:endParaRPr lang="en-US" sz="1750" dirty="0"/>
          </a:p>
        </p:txBody>
      </p:sp>
      <p:sp>
        <p:nvSpPr>
          <p:cNvPr id="65" name="Text 63"/>
          <p:cNvSpPr/>
          <p:nvPr/>
        </p:nvSpPr>
        <p:spPr>
          <a:xfrm>
            <a:off x="7187184" y="6144768"/>
            <a:ext cx="1773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6572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to first qualified shortlist</a:t>
            </a:r>
            <a:endParaRPr lang="en-US" sz="880" dirty="0"/>
          </a:p>
        </p:txBody>
      </p:sp>
      <p:sp>
        <p:nvSpPr>
          <p:cNvPr id="66" name="Shape 64"/>
          <p:cNvSpPr/>
          <p:nvPr/>
        </p:nvSpPr>
        <p:spPr>
          <a:xfrm>
            <a:off x="9491472" y="5815584"/>
            <a:ext cx="192024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0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9619488" y="5907024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418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32% → 49%</a:t>
            </a:r>
            <a:endParaRPr lang="en-US" sz="1750" dirty="0"/>
          </a:p>
        </p:txBody>
      </p:sp>
      <p:sp>
        <p:nvSpPr>
          <p:cNvPr id="68" name="Text 66"/>
          <p:cNvSpPr/>
          <p:nvPr/>
        </p:nvSpPr>
        <p:spPr>
          <a:xfrm>
            <a:off x="9619488" y="6144768"/>
            <a:ext cx="16642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6572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Outreach start rate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73952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0A1A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Design Projects Showcase</dc:title>
  <dc:subject>AI design project showcase template</dc:subject>
  <dc:creator>OpenAI</dc:creator>
  <cp:lastModifiedBy>OpenAI</cp:lastModifiedBy>
  <cp:revision>1</cp:revision>
  <dcterms:created xsi:type="dcterms:W3CDTF">2026-04-09T14:08:52Z</dcterms:created>
  <dcterms:modified xsi:type="dcterms:W3CDTF">2026-04-09T14:08:52Z</dcterms:modified>
</cp:coreProperties>
</file>