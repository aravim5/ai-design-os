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01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Transforming Advisor support Inboxes with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vision: Today we automate email drudgery. Tomorrow we are the operating system of trusted AI workflows across every advisor supports' inbox.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2386"/>
            <a:ext cx="65735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Daily Email Burden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04793"/>
            <a:ext cx="4196358" cy="3182422"/>
          </a:xfrm>
          <a:prstGeom prst="roundRect">
            <a:avLst>
              <a:gd name="adj" fmla="val 1069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362087"/>
            <a:ext cx="31695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Thousands of Requests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852505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Middle-office emails flood advisors' Outlook inboxes daily requesting client data, presentation decks, proposal drafts, onboarding forms, compliance updates, and ad-hoc research.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04793"/>
            <a:ext cx="4196358" cy="3182422"/>
          </a:xfrm>
          <a:prstGeom prst="roundRect">
            <a:avLst>
              <a:gd name="adj" fmla="val 1069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Manual Processing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852505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Advisor Support Specialists manually read, classify, and copy-paste data between multiple systems—burning 4–6 hours per complex request.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04793"/>
            <a:ext cx="4196358" cy="3182422"/>
          </a:xfrm>
          <a:prstGeom prst="roundRect">
            <a:avLst>
              <a:gd name="adj" fmla="val 1069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 Turnover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85250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tedious work drives 18% annual turnover among support staff.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381" y="596622"/>
            <a:ext cx="5156716" cy="44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Challenges for Leadership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81" y="1407319"/>
            <a:ext cx="6383774" cy="63837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94865" y="1407319"/>
            <a:ext cx="6383774" cy="1658779"/>
          </a:xfrm>
          <a:prstGeom prst="roundRect">
            <a:avLst>
              <a:gd name="adj" fmla="val 1275"/>
            </a:avLst>
          </a:prstGeom>
          <a:solidFill>
            <a:srgbClr val="404245"/>
          </a:solidFill>
          <a:ln/>
        </p:spPr>
      </p:sp>
      <p:sp>
        <p:nvSpPr>
          <p:cNvPr id="5" name="Shape 2"/>
          <p:cNvSpPr/>
          <p:nvPr/>
        </p:nvSpPr>
        <p:spPr>
          <a:xfrm>
            <a:off x="10475238" y="1548289"/>
            <a:ext cx="423029" cy="423029"/>
          </a:xfrm>
          <a:prstGeom prst="roundRect">
            <a:avLst>
              <a:gd name="adj" fmla="val 21613378"/>
            </a:avLst>
          </a:prstGeom>
          <a:solidFill>
            <a:srgbClr val="84482D"/>
          </a:solidFill>
          <a:ln/>
        </p:spPr>
      </p:sp>
      <p:sp>
        <p:nvSpPr>
          <p:cNvPr id="6" name="Text 3"/>
          <p:cNvSpPr/>
          <p:nvPr/>
        </p:nvSpPr>
        <p:spPr>
          <a:xfrm>
            <a:off x="9805273" y="2112288"/>
            <a:ext cx="1762958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Executive Directors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35835" y="2473643"/>
            <a:ext cx="6101834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real-time visibility into ticket queues, SLA risk, or individual workloads across 180-person teams, leading to frequent firefighting and missed deadlines.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4865" y="3207068"/>
            <a:ext cx="6383774" cy="1658779"/>
          </a:xfrm>
          <a:prstGeom prst="roundRect">
            <a:avLst>
              <a:gd name="adj" fmla="val 1275"/>
            </a:avLst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10475238" y="3348038"/>
            <a:ext cx="423029" cy="423029"/>
          </a:xfrm>
          <a:prstGeom prst="roundRect">
            <a:avLst>
              <a:gd name="adj" fmla="val 21613378"/>
            </a:avLst>
          </a:prstGeom>
          <a:solidFill>
            <a:srgbClr val="84482D"/>
          </a:solidFill>
          <a:ln/>
        </p:spPr>
      </p:sp>
      <p:sp>
        <p:nvSpPr>
          <p:cNvPr id="10" name="Text 7"/>
          <p:cNvSpPr/>
          <p:nvPr/>
        </p:nvSpPr>
        <p:spPr>
          <a:xfrm>
            <a:off x="9634418" y="3912037"/>
            <a:ext cx="2104549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Head of Advisor Support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635835" y="4273391"/>
            <a:ext cx="6101834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 inconsistent client service, rising labor costs, and limited proof of the operational ROI demanded by regulators and the board.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644985"/>
            <a:ext cx="105769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Our Solution: Intelligent Outlook Layer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6939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secure, AI-powered platform that sits on top of Microsoft Outlook and transforms unstructured email chaos into fully automated workflows.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44109"/>
            <a:ext cx="5807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Email Understanding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93050"/>
            <a:ext cx="3664744" cy="2395657"/>
          </a:xfrm>
          <a:prstGeom prst="roundRect">
            <a:avLst>
              <a:gd name="adj" fmla="val 1420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719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Rapid Classification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210282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Large-language models classify intent, extract entities, and detect priority in under 300 milliseconds.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93050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719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Entity Extraction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210282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Automatically identifies client IDs, deadlines, and ticket types from unstructured emails.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15520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342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Priority Detection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83275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Intelligently determines which requests need immediate attention based on content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0634"/>
            <a:ext cx="75652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Multi-System Orchestration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330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Pre-built connectors pull data from CRM, portfolio, Bloomberg, risk, and compliance systems, eliminating swivel-chair copy-paste operations that consume hours of staff time.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381" y="596622"/>
            <a:ext cx="4919067" cy="44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Auto-Generated Deliverables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59381" y="1375648"/>
            <a:ext cx="6383774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AI instantly drafts key financial documents with proper formatting, required disclosures, and up-to-date data: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9381" y="1954054"/>
            <a:ext cx="6383774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PowerPoint decks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9381" y="2229088"/>
            <a:ext cx="6383774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Investment proposals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9381" y="2504123"/>
            <a:ext cx="6383774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 biographies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9381" y="2779157"/>
            <a:ext cx="6383774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Regulatory forms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865" y="1407319"/>
            <a:ext cx="6383774" cy="6383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7492"/>
            <a:ext cx="6591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Role-Aware Dashboards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98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Purpose-built views tailored to each user's specific needs and responsibilities.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17952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101014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648432"/>
            <a:ext cx="4135398" cy="680442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6" name="Text 4"/>
          <p:cNvSpPr/>
          <p:nvPr/>
        </p:nvSpPr>
        <p:spPr>
          <a:xfrm>
            <a:off x="2721888" y="37759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4555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Advisor Support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504610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 "mission control" of active requests, next actions, and AI-drafted outputs.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17952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101014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7442" y="3648432"/>
            <a:ext cx="4135398" cy="680442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7145060" y="37759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474256" y="4555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Support Manager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4256" y="504610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team health, SLA alerts, drill-downs, and workload balancing tools.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617952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101014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0613" y="3648432"/>
            <a:ext cx="4135398" cy="680442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6" name="Text 14"/>
          <p:cNvSpPr/>
          <p:nvPr/>
        </p:nvSpPr>
        <p:spPr>
          <a:xfrm>
            <a:off x="11568232" y="37759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897427" y="4555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Executive Director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97427" y="504610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Cross-team KPIs, cost-savings metrics, capacity forecasts, and ROI analytics.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966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Benefits Across the Organization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6770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4-6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459950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Hours Saved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508992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complex request, eliminating manual processing time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356770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18%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459950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Reduced Turnover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544425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Potential decrease in annual support staff turnover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356770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100%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459950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Visibility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508992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transparency into workloads and SLAs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906" y="604123"/>
            <a:ext cx="4301252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Our Vision for the Future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8906" y="1264563"/>
            <a:ext cx="13092589" cy="1231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From Email Automation to Complete Workflow Operating System</a:t>
            </a:r>
            <a:endParaRPr lang="en-US" sz="3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2710339"/>
            <a:ext cx="7791331" cy="4689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34546" y="6208287"/>
            <a:ext cx="1284997" cy="47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 Emails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222" y="4940842"/>
            <a:ext cx="425496" cy="4254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49443" y="5915227"/>
            <a:ext cx="1284996" cy="239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Policy-Aware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986" y="4540876"/>
            <a:ext cx="425496" cy="4254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72717" y="5395591"/>
            <a:ext cx="1284997" cy="47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Workflow Integration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751" y="4140910"/>
            <a:ext cx="425495" cy="4254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78838" y="4995625"/>
            <a:ext cx="1284997" cy="47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Cross-Inbox Coverage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515" y="3740945"/>
            <a:ext cx="425496" cy="42549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93604" y="4595659"/>
            <a:ext cx="1284997" cy="47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Trusted AI OS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4790" y="3315449"/>
            <a:ext cx="425495" cy="42549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68906" y="7560112"/>
            <a:ext cx="13092589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We're building the foundation for AI-powered efficiency across all regulated financial communications, delivering measurable ROI while ensuring compliance and improving client service.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2025-08-17T14:05:11Z</dcterms:created>
  <dcterms:modified xsi:type="dcterms:W3CDTF">2025-08-17T14:05:11Z</dcterms:modified>
</cp:coreProperties>
</file>